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7" r:id="rId5"/>
    <p:sldId id="259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0" r:id="rId14"/>
    <p:sldId id="271" r:id="rId15"/>
    <p:sldId id="260" r:id="rId16"/>
    <p:sldId id="269" r:id="rId17"/>
    <p:sldId id="261" r:id="rId18"/>
    <p:sldId id="268" r:id="rId19"/>
    <p:sldId id="262" r:id="rId20"/>
    <p:sldId id="263" r:id="rId21"/>
    <p:sldId id="264" r:id="rId22"/>
    <p:sldId id="26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(n=204)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7A99"/>
              </a:solidFill>
            </c:spPr>
            <c:extLst>
              <c:ext xmlns:c16="http://schemas.microsoft.com/office/drawing/2014/chart" uri="{C3380CC4-5D6E-409C-BE32-E72D297353CC}">
                <c16:uniqueId val="{00000001-9145-482F-B297-F9908EDB85DE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45-482F-B297-F9908EDB85DE}"/>
              </c:ext>
            </c:extLst>
          </c:dPt>
          <c:dPt>
            <c:idx val="2"/>
            <c:invertIfNegative val="0"/>
            <c:bubble3D val="0"/>
            <c:spPr>
              <a:solidFill>
                <a:srgbClr val="E9A2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45-482F-B297-F9908EDB85DE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45-482F-B297-F9908EDB85DE}"/>
              </c:ext>
            </c:extLst>
          </c:dPt>
          <c:dPt>
            <c:idx val="4"/>
            <c:invertIfNegative val="1"/>
            <c:bubble3D val="0"/>
            <c:spPr>
              <a:solidFill>
                <a:srgbClr val="0B6E5A"/>
              </a:solidFill>
            </c:spPr>
            <c:extLst>
              <c:ext xmlns:c16="http://schemas.microsoft.com/office/drawing/2014/chart" uri="{C3380CC4-5D6E-409C-BE32-E72D297353CC}">
                <c16:uniqueId val="{00000009-DEBB-4CB9-AA81-4D69FF230924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OSV-Scanner</c:v>
                </c:pt>
                <c:pt idx="1">
                  <c:v>Semgrep</c:v>
                </c:pt>
                <c:pt idx="2">
                  <c:v>Bandit</c:v>
                </c:pt>
                <c:pt idx="3">
                  <c:v>pkgsentinel</c:v>
                </c:pt>
                <c:pt idx="4">
                  <c:v>pkgsentinel
+md-pinpoint*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9.8000000000000004E-2</c:v>
                </c:pt>
                <c:pt idx="2">
                  <c:v>0.14199999999999999</c:v>
                </c:pt>
                <c:pt idx="3">
                  <c:v>0.152</c:v>
                </c:pt>
                <c:pt idx="4">
                  <c:v>0.28399999999999997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145-482F-B297-F9908EDB85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4"/>
          <c:min val="0"/>
        </c:scaling>
        <c:delete val="0"/>
        <c:axPos val="l"/>
        <c:majorGridlines>
          <c:spPr>
            <a:ln w="6350" cap="flat">
              <a:solidFill>
                <a:srgbClr val="DCE3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999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D59F7-1060-9767-39A0-52A6D838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F63A0-4852-E9E6-6AAE-6347EF1A6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D338B-DB8C-A5E0-0BCF-951BDC9E2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5BCE1-5724-F50A-E7A9-1C416DC6C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40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78F3-0910-BA4B-DC71-660D65F0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9E634-7C6E-BE97-BC74-863447834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7AFD4-14D1-DF68-6C4A-A77A3A0FE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2ED-8B00-2514-D67F-043F26CEB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12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AE3A-30FF-08C8-0B7D-24BD8517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2EC89-8293-FD80-0F39-6ED49BBBA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51767-02C4-B68F-8571-BD330062F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90D6D-4152-41F8-45FD-733BA040A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38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323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3383280"/>
            <a:ext cx="3108960" cy="3108960"/>
          </a:xfrm>
          <a:prstGeom prst="ellipse">
            <a:avLst/>
          </a:prstGeom>
          <a:solidFill>
            <a:srgbClr val="1323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CAPSTONE · SOFTWARE SUPPLY-CHAIN 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공급망 악성 패키지 탐지 엔진과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Capability Manifest</a:t>
            </a:r>
            <a:r>
              <a:rPr lang="en-US" sz="2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표준 제안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41248" y="4800600"/>
            <a:ext cx="2926080" cy="0"/>
          </a:xfrm>
          <a:prstGeom prst="line">
            <a:avLst/>
          </a:prstGeom>
          <a:noFill/>
          <a:ln w="12700">
            <a:solidFill>
              <a:srgbClr val="3A4D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Uisha-J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위협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소프트웨어 공급망에 들어오며 두 갈래 위험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137117"/>
            <a:ext cx="5486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486400" cy="10972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Slopsquatting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125980" y="3566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r>
              <a:rPr lang="en-US" sz="5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1093762" y="3076956"/>
            <a:ext cx="3630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패키지 중 </a:t>
            </a:r>
            <a:r>
              <a:rPr lang="en-US" sz="120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</a:t>
            </a: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미등록</a:t>
            </a: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sz="120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</a:t>
            </a: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1705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LLM 2종 (gpt-5.2 · claude-opus-4-8) · 1,000회 호출 · 5,552 </a:t>
            </a:r>
            <a:r>
              <a:rPr lang="en-US" sz="1200" dirty="0" err="1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</a:t>
            </a:r>
            <a:r>
              <a:rPr lang="en-US" sz="12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80974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프롬프트의 1/3은 같은 환각을 반복(5회 중 3회+)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3255" y="2148840"/>
            <a:ext cx="5486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13"/>
          <p:cNvSpPr/>
          <p:nvPr/>
        </p:nvSpPr>
        <p:spPr>
          <a:xfrm>
            <a:off x="6199632" y="2148840"/>
            <a:ext cx="5486400" cy="109728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73952" y="2441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en-US" sz="210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</a:t>
            </a:r>
            <a:r>
              <a:rPr lang="en-US" sz="21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lang="en-US" sz="210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sz="21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ko-KR" altLang="en-US" sz="21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패키지</a:t>
            </a:r>
            <a:endParaRPr lang="en-US" sz="2100" b="1" dirty="0">
              <a:solidFill>
                <a:srgbClr val="1B2A4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60349" y="3508717"/>
            <a:ext cx="454105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49,000+</a:t>
            </a:r>
            <a:r>
              <a:rPr lang="ko-KR" altLang="en-US" sz="44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7967472" y="4956048"/>
            <a:ext cx="43534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/>
              <a:t>MCP </a:t>
            </a:r>
            <a:r>
              <a:rPr lang="ko-KR" altLang="en-US" sz="1600" dirty="0"/>
              <a:t>서버만 </a:t>
            </a:r>
            <a:r>
              <a:rPr lang="en-US" altLang="ko-KR" sz="1600" dirty="0"/>
              <a:t>9400</a:t>
            </a:r>
            <a:r>
              <a:rPr lang="ko-KR" altLang="en-US" sz="1600" dirty="0"/>
              <a:t>개</a:t>
            </a:r>
            <a:r>
              <a:rPr lang="en-US" altLang="ko-KR" sz="1600" dirty="0"/>
              <a:t>(4</a:t>
            </a:r>
            <a:r>
              <a:rPr lang="ko-KR" altLang="en-US" sz="1600" dirty="0"/>
              <a:t>개월동안 </a:t>
            </a:r>
            <a:r>
              <a:rPr lang="en-US" altLang="ko-KR" sz="1600" dirty="0"/>
              <a:t>+38%)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기둥: 탐지 엔진 + 미래 표준 제안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악성 패키지를 지금 잡는 엔진과, 위협을 구조적으로 줄이기 위한 선언형 표준을 </a:t>
            </a:r>
            <a:r>
              <a:rPr lang="en-US" sz="1350" dirty="0" err="1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135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5330952" cy="3703320"/>
          </a:xfrm>
          <a:prstGeom prst="rect">
            <a:avLst/>
          </a:prstGeom>
          <a:solidFill>
            <a:srgbClr val="1B2A4A"/>
          </a:solidFill>
          <a:ln/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28016" cy="3703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엔진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아카이브를 설치 없이 메모리 스트리밍으로 정적·행위 분석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7계층 / 21단계 파이프라인 (L0~L6)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MITRE ATT&amp;CK TTP 임베딩으로 악성 행위 정렬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PyPI·npm 모두 지원, zero-day 대응이 핵심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2194560"/>
            <a:ext cx="533095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355080" y="2194560"/>
            <a:ext cx="128016" cy="370332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2084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CAPABILITY MANIFEST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2852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제안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766560" y="36118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제작자가 위험 권한을 매니페스트에 선언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'선언 vs 실제 탐지'를 대조해 불일치를 경고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어휘를 대체(REPLACE)가 아닌 확장(EXTEND)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선언이 표준화되면 위협을 구조적으로 축소 (forward-looking)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kgsentinel_c4_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1387"/>
            <a:ext cx="12414738" cy="75893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>
                <a:solidFill>
                  <a:srgbClr val="6B7A99"/>
                </a:solidFill>
                <a:latin typeface="Malgun Gothic"/>
              </a:rPr>
              <a:t>pkgsentinel  ·  AI 공급망 악성 패키지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900">
                <a:solidFill>
                  <a:srgbClr val="6B7A99"/>
                </a:solidFill>
                <a:latin typeface="Malgun Gothic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엔진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ko-KR" alt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기반 탐지</a:t>
            </a:r>
            <a:r>
              <a:rPr 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(L0~L6)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12738"/>
            <a:ext cx="1118311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912738"/>
            <a:ext cx="1051560" cy="5166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912738"/>
            <a:ext cx="10515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1912738"/>
            <a:ext cx="23774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 필터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960" y="1912738"/>
            <a:ext cx="72237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OSV·OSSF 알려진 악성 조회 (게이트)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93382"/>
            <a:ext cx="1118311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02920" y="2493382"/>
            <a:ext cx="1051560" cy="5166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493382"/>
            <a:ext cx="10515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2493382"/>
            <a:ext cx="23774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존재·메타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51960" y="2493382"/>
            <a:ext cx="72237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여부·등록일·버전수·유사 이름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074026"/>
            <a:ext cx="1118311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3074026"/>
            <a:ext cx="1051560" cy="5166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074026"/>
            <a:ext cx="10515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83080" y="3074026"/>
            <a:ext cx="23774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분석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51960" y="3074026"/>
            <a:ext cx="72237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exec/eval·base64·install hook·셸 실행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54670"/>
            <a:ext cx="1118311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3654670"/>
            <a:ext cx="1051560" cy="5166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654670"/>
            <a:ext cx="10515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783080" y="3654670"/>
            <a:ext cx="23774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행위·TTP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51960" y="3654670"/>
            <a:ext cx="72237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MITRE ATT&amp;CK 568 TTP 임베딩 정렬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235314"/>
            <a:ext cx="1118311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4235314"/>
            <a:ext cx="1051560" cy="5166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4235314"/>
            <a:ext cx="10515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4235314"/>
            <a:ext cx="23774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종합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51960" y="4235314"/>
            <a:ext cx="72237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47개 악성 지표 + 테인트 슬라이싱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4815958"/>
            <a:ext cx="1118311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4815958"/>
            <a:ext cx="1051560" cy="516636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815958"/>
            <a:ext cx="10515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783080" y="4815958"/>
            <a:ext cx="23774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판정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251960" y="4815958"/>
            <a:ext cx="72237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고신뢰 악성 여부 교차 검증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5396602"/>
            <a:ext cx="1118311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02920" y="5396602"/>
            <a:ext cx="1051560" cy="516636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2920" y="5396602"/>
            <a:ext cx="10515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L6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783080" y="5396602"/>
            <a:ext cx="237744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판정·리포트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251960" y="5396602"/>
            <a:ext cx="72237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CRITICAL/HIGH/MEDIUM/LOW + 매니페스트 대조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1300" b="1">
                <a:solidFill>
                  <a:srgbClr val="202733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2700" b="1">
                <a:solidFill>
                  <a:srgbClr val="202733"/>
                </a:solidFill>
                <a:latin typeface="Malgun Gothic"/>
              </a:rPr>
              <a:t>L0. 위협 필터 (Threat Filter)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Malgun Gothic"/>
              </a:rPr>
              <a:t>pkgsentinel  ·  AI 공급망 악성 패키지 탐지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Malgun Gothic"/>
              </a:rPr>
              <a:t>부록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169164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1691640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역할/목적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3320" y="1691640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파이프라인의 최정점 게이트웨이 역할 수행. 무거운 정밀 분석(정적/행위/LLM) 전, 명백한 악성 패키지를 1차로 필터링하여 시스템 리소스 최적화.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234543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2345436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레지스트리 확인 (Registry Check)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3320" y="2345436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PyPI, npm 등 공식 저장소 등록 여부 실시간 확인. 오타 수정 공격(Typosquatting) 및 의존성 혼란(Dependency Confusion) 탐지. 패키지 최초 등록일 및 버전 릴리즈 주기를 분석하여 급조된 위험 패키지 식별.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999232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00200" y="2999232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Threat Filter (게이트)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03320" y="2999232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이미 알려진 악성 패키지명, 공격자 계정, 악성 해시(Hash) 대조를 통한 고속 차단. 정상 패키지는 신속 통과, 의심 패키지는 후속 심층 분석 계층(L1~L6)으로 이관.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653028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0200" y="3653028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공격이력 조회 (OSV DB)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3320" y="3653028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Google 주도 오픈소스 취약점 DB(OSV) API 실시간 호출. 해당 패키지/버전의 과거 보안 사고 및 CVE 취약점 유무 매핑. 전과가 있는 패키지에 가중치를 부여하여 후속 검증 강도 조절.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5A677D"/>
                </a:solidFill>
                <a:latin typeface="Malgun Gothic"/>
              </a:rPr>
              <a:t>알려진 위협을 고속으로 차단하는 최전방 방어선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512564"/>
            <a:ext cx="11183112" cy="1051560"/>
          </a:xfrm>
          <a:prstGeom prst="roundRect">
            <a:avLst/>
          </a:prstGeom>
          <a:solidFill>
            <a:srgbClr val="F1F7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2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▶ numpy 실측 · L0 위협 필터 — 게이트 통과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00 PyPI 등록됨   ·   01 정확매칭 0 / typosquat 후보 0 (popular_rank 20)   ·   02 공격이력 악성 exact 0건   →   의심 신호 0, L1로 이관</a:t>
            </a:r>
          </a:p>
        </p:txBody>
      </p:sp>
    </p:spTree>
    <p:extLst>
      <p:ext uri="{BB962C8B-B14F-4D97-AF65-F5344CB8AC3E}">
        <p14:creationId xmlns:p14="http://schemas.microsoft.com/office/powerpoint/2010/main" val="130892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1300" b="1">
                <a:solidFill>
                  <a:srgbClr val="202733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2700" b="1">
                <a:solidFill>
                  <a:srgbClr val="202733"/>
                </a:solidFill>
                <a:latin typeface="Malgun Gothic"/>
              </a:rPr>
              <a:t>L1. 존재·메타 (Existence &amp; Metadata)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40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역할/목적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패키지의 단순 존재 여부를 넘어, 해당 오픈소스 프로젝트의 관리 상태와 빌드 과정의 투명성 검증. 메타데이터의 비정상적 패턴을 분석하여 잠재적 공급망 위협 식별.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543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45436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OpenSSF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45436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오픈소스 보안 재단(OpenSSF) 기준을 바탕으로 프로젝트의 보안 취약점 자동 점검. 코드 리뷰 진행 여부, 활동성, 기여자 수 등을 점검하여 방치된 프로젝트인지 판별.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99232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99232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SLSA 프로비넌스 추정 (SLSA Provenance)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99232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공급망 보안 표준인 SLSA 프레임워크 적용. 소스 코드가 안전한 빌드 환경에서 변조 없이 패키징되었는지 인증서 및 메타데이터 검증하여 소프트웨어 공급망 공격 차단.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53028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653028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분석 캐시 (6-트리거 무효화)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53028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이미 검증된 동일 버전/메타데이터 패키지는 캐시를 활용해 고속 통과. 패키지 설정 파일 내 비정상 구조 검출. 탐지 시스템을 회피하려는 조건부 로직(트리거)을 무력화하고 강제 분석 유도.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5A677D"/>
                </a:solidFill>
                <a:latin typeface="Malgun Gothic"/>
              </a:rPr>
              <a:t>오픈소스 프로젝트의 신뢰성과 공급망 무결성 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12564"/>
            <a:ext cx="11183112" cy="1051560"/>
          </a:xfrm>
          <a:prstGeom prst="roundRect">
            <a:avLst/>
          </a:prstGeom>
          <a:solidFill>
            <a:srgbClr val="F1F7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2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▶ numpy 실측 · L1 존재·메타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03 OpenSSF Scorecard 7.7/10 (numpy/numpy · 18개 체크)   ·   04 SLSA L0 (provenance 없음)   ·   05 분석 캐시 → 관리상태 양호</a:t>
            </a:r>
          </a:p>
        </p:txBody>
      </p:sp>
    </p:spTree>
    <p:extLst>
      <p:ext uri="{BB962C8B-B14F-4D97-AF65-F5344CB8AC3E}">
        <p14:creationId xmlns:p14="http://schemas.microsoft.com/office/powerpoint/2010/main" val="109470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1300" b="1">
                <a:solidFill>
                  <a:srgbClr val="202733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2700" b="1">
                <a:solidFill>
                  <a:srgbClr val="202733"/>
                </a:solidFill>
                <a:latin typeface="Malgun Gothic"/>
              </a:rPr>
              <a:t>L2. 정적 분석 (Static Analysis)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831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914400" cy="521207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914400" cy="5212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27632"/>
            <a:ext cx="201168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역할/목적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27632"/>
            <a:ext cx="781812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패키지를 실제 실행(동적 분석)하기 전, 소스코드 레벨에서 의심스러운 로직이나 패턴을 진단. 에이전트 기반 분류 및 자산 구조 분석을 통한 정밀 검사.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76272"/>
            <a:ext cx="111831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76272"/>
            <a:ext cx="914400" cy="521207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914400" cy="5212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176272"/>
            <a:ext cx="201168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전파일 소스추출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76272"/>
            <a:ext cx="781812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압축 파일의 압축을 풀고 내부의 모든 소스코드와 설정 파일 추출하여 전체 스캔 준비.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111831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724912"/>
            <a:ext cx="914400" cy="521207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724912"/>
            <a:ext cx="914400" cy="5212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724912"/>
            <a:ext cx="201168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Agentic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724912"/>
            <a:ext cx="781812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LLM 또는 자동화된 에이전트가 코드의 전반적인 구조와 맥락을 파악하여 1차 분류 및 기능별 태깅 수행.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73552"/>
            <a:ext cx="111831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273552"/>
            <a:ext cx="914400" cy="521207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73552"/>
            <a:ext cx="914400" cy="5212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273552"/>
            <a:ext cx="201168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Behavior Sequence* (필수 스테이지)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273552"/>
            <a:ext cx="781812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코드가 실행될 때 발생할 것으로 예상되는 API 호출 순서나 함수 실행 흐름을 정적으로 추적하여 악성 패턴 예측.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22191"/>
            <a:ext cx="111831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822191"/>
            <a:ext cx="914400" cy="521207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822191"/>
            <a:ext cx="914400" cy="5212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822191"/>
            <a:ext cx="201168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문자열 상수(엔트로피)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822191"/>
            <a:ext cx="781812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코드 내 문자열 상수의 무작위성을 수학적으로 분석하여 난독화 코드 및 암호화 키/토큰 등 숨겨진 민감 자격 증명 탐지.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70832"/>
            <a:ext cx="11183112" cy="521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4370832"/>
            <a:ext cx="914400" cy="521207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370832"/>
            <a:ext cx="914400" cy="5212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370832"/>
            <a:ext cx="201168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버전 diff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370832"/>
            <a:ext cx="7818120" cy="521207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동일 패키지의 직전 버전과 현재 버전 소스코드를 라인 단위로 비교하여 급격한 코드 변화 및 의심스러운 로직 추가 감시.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5A677D"/>
                </a:solidFill>
                <a:latin typeface="Malgun Gothic"/>
              </a:rPr>
              <a:t>코드를 실행하지 않고 소스코드 내부의 잠재적 위협과 난독화 탐지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129783"/>
            <a:ext cx="11183112" cy="969264"/>
          </a:xfrm>
          <a:prstGeom prst="roundRect">
            <a:avLst/>
          </a:prstGeom>
          <a:solidFill>
            <a:srgbClr val="F1F7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▶ numpy 실측 · L2 정적 분석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06 소스 1,235 / 전체 8,250 파일 (아카이브 ≈20MB)   ·   07 비-Agentic (signal 0)   ·   08 행위 827파일 분석 · API 호출 542   ·   09 의심 문자열 1,110 (벤더드 빌드코드 엔트로피)   ·   10 버전 diff 변경 0 · LOW</a:t>
            </a:r>
          </a:p>
        </p:txBody>
      </p:sp>
    </p:spTree>
    <p:extLst>
      <p:ext uri="{BB962C8B-B14F-4D97-AF65-F5344CB8AC3E}">
        <p14:creationId xmlns:p14="http://schemas.microsoft.com/office/powerpoint/2010/main" val="76687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1300" b="1">
                <a:solidFill>
                  <a:srgbClr val="202733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2700" b="1">
                <a:solidFill>
                  <a:srgbClr val="202733"/>
                </a:solidFill>
                <a:latin typeface="Malgun Gothic"/>
              </a:rPr>
              <a:t>L3. 행위·TTP (Behavior &amp; TTP)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40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역할/목적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패키지가 시스템 내에서 수행하려는 구체적인 '공격 행위'를 식별. 악성코드가 시스템을 장악하는 정형화된 공격 프레임워크 패턴과 대조.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543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45436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TTP 매칭 (MITRE 임베딩+행위규칙)* (필수 스테이지)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45436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글로벌 사이버 공격 전술/기법 표준인 MITRE ATT&amp;CK 매트릭스에 코드 행위 매핑. 소스코드 맥락을 벡터화하여 알려진 공격자 기술과 유사도 대조 및 행위 규칙 검증.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99232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99232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12 카테고리 이상 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99232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악성 패키지가 주로 행하는 12가지 이상의 핵심 공격 카테고리(C2 통신, 자격 증명 탈취, 지속성 확보, 우회 기술 등)를 기준으로 정밀 검사.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5A677D"/>
                </a:solidFill>
                <a:latin typeface="Malgun Gothic"/>
              </a:rPr>
              <a:t>공격자의 전략·기술·절차(TTP) 매핑을 통한 실질적 행위 탐지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11183112" cy="1051560"/>
          </a:xfrm>
          <a:prstGeom prst="roundRect">
            <a:avLst/>
          </a:prstGeom>
          <a:solidFill>
            <a:srgbClr val="F1F7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2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▶ numpy 실측 · L3 행위·TTP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11 MITRE TTP 매칭 140건   ·   12 12-카테고리 이상탐지 0   →   매칭은 다수지만 전부 미확정(LLM 검증 전) 신호</a:t>
            </a:r>
          </a:p>
        </p:txBody>
      </p:sp>
    </p:spTree>
    <p:extLst>
      <p:ext uri="{BB962C8B-B14F-4D97-AF65-F5344CB8AC3E}">
        <p14:creationId xmlns:p14="http://schemas.microsoft.com/office/powerpoint/2010/main" val="47408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1300" b="1">
                <a:solidFill>
                  <a:srgbClr val="202733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2700" b="1">
                <a:solidFill>
                  <a:srgbClr val="202733"/>
                </a:solidFill>
                <a:latin typeface="Malgun Gothic"/>
              </a:rPr>
              <a:t>L4. 지표 종합 (Indicator Synthesis)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40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역할/목적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앞선 계층에서 탐지된 개별 단서들을 결합하여 실질적인 공격 시나리오 완성. 데이터 흐름 추적으로 실제 정보 유출 여부 증명.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543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45436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47-indicator 매치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45436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공급망 공격에서 빈번하게 발생하는 47가지 핵심 위험 지표(Indicator)와 매핑하여 교차 검증 및 정밀 필터링.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99232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99232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Sequential Pattern Mining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99232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개별 API 호출이 아닌 '함수 호출의 순서(Sequence)'를 분석하여 특정 공격 프로세스가 데이터상에서 순차적으로 발생하는지 탐지.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53028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653028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Taint Slicing (source -&gt; sink)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53028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시스템 내의 민감한 정보(Source)가 의도치 않은 외부 경로(Sink)로 흘러가는지 추적하여 오염된 데이터 경로를 논리적으로 입증.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5A677D"/>
                </a:solidFill>
                <a:latin typeface="Malgun Gothic"/>
              </a:rPr>
              <a:t>위협 지표의 연관 분석 및 민감 데이터 흐름 추적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12564"/>
            <a:ext cx="11183112" cy="1051560"/>
          </a:xfrm>
          <a:prstGeom prst="roundRect">
            <a:avLst/>
          </a:prstGeom>
          <a:solidFill>
            <a:srgbClr val="F1F7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2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▶ numpy 실측 · L4 지표 종합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13 47-indicator 179 hits (HIGH 104 · 5개 카테고리)   ·   14 Sequence 30 패턴 (SP-002/005)   ·   15 Taint 9 flow (6 파일)   →   휴리스틱 누적: suspicious 127 + malicious 11 = 138 비-benign</a:t>
            </a:r>
          </a:p>
        </p:txBody>
      </p:sp>
    </p:spTree>
    <p:extLst>
      <p:ext uri="{BB962C8B-B14F-4D97-AF65-F5344CB8AC3E}">
        <p14:creationId xmlns:p14="http://schemas.microsoft.com/office/powerpoint/2010/main" val="771296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1300" b="1">
                <a:solidFill>
                  <a:srgbClr val="202733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2700" b="1">
                <a:solidFill>
                  <a:srgbClr val="202733"/>
                </a:solidFill>
                <a:latin typeface="Malgun Gothic"/>
              </a:rPr>
              <a:t>L5. LLM 판정 (LLM Decision)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40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역할/목적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정적/행위 분석에서 도출된 방대한 데이터를 종합하여 최종 판정 수행. 패턴 매칭을 넘어 교묘하게 위장된 코드의 진정한 의도를 LLM 추론 능력으로 파악.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543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45436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LLM 이용 판정 (단일/다중 에이전트)* (필수 스테이지)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45436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대규모 언어 모델을 이용해 유해성을 논리적으로 분석. 단일/다중 에이전트 아키텍처의 교차 검증을 통해 오탐을 최소화하고 판정 신뢰도 극대화.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5A677D"/>
                </a:solidFill>
                <a:latin typeface="Malgun Gothic"/>
              </a:rPr>
              <a:t>AI 기반의 고도화된 문맥 분석 및 인간 수준의 최종 악성 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11183112" cy="1051560"/>
          </a:xfrm>
          <a:prstGeom prst="roundRect">
            <a:avLst/>
          </a:prstGeom>
          <a:solidFill>
            <a:srgbClr val="ECFBF1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2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▶ numpy 실측 · L5 LLM 판정 — 반전 지점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16 Claude 다중에이전트가 137개 파일 평가 → 합의도 1.0, 전부 benign.   L4까지 쌓인 휴리스틱 138 신호를 정상 라이브러리 사용으로 확인.</a:t>
            </a:r>
          </a:p>
        </p:txBody>
      </p:sp>
    </p:spTree>
    <p:extLst>
      <p:ext uri="{BB962C8B-B14F-4D97-AF65-F5344CB8AC3E}">
        <p14:creationId xmlns:p14="http://schemas.microsoft.com/office/powerpoint/2010/main" val="3291685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1300" b="1">
                <a:solidFill>
                  <a:srgbClr val="202733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/>
            <a:r>
              <a:rPr sz="2700" b="1">
                <a:solidFill>
                  <a:srgbClr val="202733"/>
                </a:solidFill>
                <a:latin typeface="Malgun Gothic"/>
              </a:rPr>
              <a:t>L6. 판정·리포트 (Decision &amp; Reporting)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40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역할/목적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격리된 환경(Sandbox)에서 패키지를 실제 실행하여 동적 위협까지 완벽 포착. 분석 결과를 종합하여 최종 신뢰 등급을 부여하고 표준 리포트 및 SBOM 제공.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543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45436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의중성 성향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45436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모든 결과를 결합하여 해당 패키지가 유해한 의도를 가졌는지 종합 분석 후 최종 신뢰 등급(Benign, Suspicious, Malicious) 부여.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99232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99232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행위 분석 - 샌드박스 동적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99232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격리된 샌드박스 환경에서 패키지를 실제 설치 및 실행하여 20분간 집중 모니터링. 지연 실행 악성 행위까지 실시간 추적.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53028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653028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20 min NIST SSDF - 최종 분석 및 리포트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53028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미국 NIST의 보안 소프트웨어 개발 프레임워크(SSDF) 기준에 따른 점검 결과 생성 및 상세 로그 반영.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06824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306824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306824"/>
            <a:ext cx="914400" cy="6035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306824"/>
            <a:ext cx="201168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400" b="1">
                <a:solidFill>
                  <a:srgbClr val="202733"/>
                </a:solidFill>
                <a:latin typeface="Malgun Gothic"/>
              </a:rPr>
              <a:t>최종 리포트 (+manifest 대조)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06824"/>
            <a:ext cx="7818120" cy="603504"/>
          </a:xfrm>
          <a:prstGeom prst="rect">
            <a:avLst/>
          </a:prstGeom>
          <a:noFill/>
        </p:spPr>
        <p:txBody>
          <a:bodyPr wrap="square" lIns="25400" tIns="0" rIns="50800" bIns="0" anchor="ctr">
            <a:spAutoFit/>
          </a:bodyPr>
          <a:lstStyle/>
          <a:p>
            <a:pPr algn="l"/>
            <a:r>
              <a:rPr sz="1150" b="0">
                <a:solidFill>
                  <a:srgbClr val="202733"/>
                </a:solidFill>
                <a:latin typeface="Malgun Gothic"/>
              </a:rPr>
              <a:t>실제 분석된 구성 요소와 개발자가 제출한 명세서(Manifest)를 대조하여 무결성 확인. 최종 분석 리포트와 함께 SBOM 파일 자동 생성 및 전달.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5A677D"/>
                </a:solidFill>
                <a:latin typeface="Malgun Gothic"/>
              </a:rPr>
              <a:t>실행 분석을 통한 최종 검증 및 보안 컴플라이언스 리포트 생성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66360"/>
            <a:ext cx="11183112" cy="1033271"/>
          </a:xfrm>
          <a:prstGeom prst="roundRect">
            <a:avLst/>
          </a:prstGeom>
          <a:solidFill>
            <a:srgbClr val="ECFBF1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2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▶ numpy 실측 · L6 최종 판정 = CLEAN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종합 1,461 증거 (휴리스틱 138 비-benign 포함) → 휴리스틱 단독은 미승격(verdict_rules) + LLM benign ⇒ 최종 CLEAN.   SSDF pass 8 / fail 3 · 샌드박스 미적용(측정 외).</a:t>
            </a:r>
          </a:p>
        </p:txBody>
      </p:sp>
    </p:spTree>
    <p:extLst>
      <p:ext uri="{BB962C8B-B14F-4D97-AF65-F5344CB8AC3E}">
        <p14:creationId xmlns:p14="http://schemas.microsoft.com/office/powerpoint/2010/main" val="394306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6B27-FCFD-A46A-FC37-31233BA9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E615FE-484F-C27A-3C72-82295263C0CF}"/>
              </a:ext>
            </a:extLst>
          </p:cNvPr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0A6E7D-E605-D49D-CBD3-1F26255CB020}"/>
              </a:ext>
            </a:extLst>
          </p:cNvPr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엔진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A2283C-96C8-A0A3-91BB-259ED36A9CC0}"/>
              </a:ext>
            </a:extLst>
          </p:cNvPr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</a:rPr>
              <a:t>위험도 판별</a:t>
            </a:r>
            <a:endParaRPr lang="en-US" sz="30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A20B549-1622-812F-E65A-08B87182FC16}"/>
              </a:ext>
            </a:extLst>
          </p:cNvPr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FA64C08-128F-619D-1612-070E741D78CC}"/>
              </a:ext>
            </a:extLst>
          </p:cNvPr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E5DF14-8BEA-892C-ED3D-64D47AF62CAF}"/>
              </a:ext>
            </a:extLst>
          </p:cNvPr>
          <p:cNvSpPr txBox="1"/>
          <p:nvPr/>
        </p:nvSpPr>
        <p:spPr>
          <a:xfrm>
            <a:off x="1259215" y="4342046"/>
            <a:ext cx="9643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① </a:t>
            </a:r>
            <a:r>
              <a:rPr lang="ko-KR" altLang="ko-KR" dirty="0" err="1"/>
              <a:t>high-severity</a:t>
            </a:r>
            <a:r>
              <a:rPr lang="ko-KR" altLang="ko-KR" dirty="0"/>
              <a:t> TTP L3 (</a:t>
            </a:r>
            <a:r>
              <a:rPr lang="ko-KR" altLang="ko-KR" dirty="0" err="1"/>
              <a:t>Stage</a:t>
            </a:r>
            <a:r>
              <a:rPr lang="ko-KR" altLang="ko-KR" dirty="0"/>
              <a:t> 11) TTP 매칭 중 </a:t>
            </a:r>
            <a:r>
              <a:rPr lang="ko-KR" altLang="ko-KR" dirty="0" err="1"/>
              <a:t>severity</a:t>
            </a:r>
            <a:r>
              <a:rPr lang="ko-KR" altLang="ko-KR" dirty="0"/>
              <a:t> = HIGH 가 1개 이상</a:t>
            </a:r>
            <a:endParaRPr lang="en-US" altLang="ko-KR" dirty="0"/>
          </a:p>
          <a:p>
            <a:r>
              <a:rPr lang="ko-KR" altLang="ko-KR" dirty="0"/>
              <a:t>② LLM MALICIOUS L4 (</a:t>
            </a:r>
            <a:r>
              <a:rPr lang="ko-KR" altLang="ko-KR" dirty="0" err="1"/>
              <a:t>Stage</a:t>
            </a:r>
            <a:r>
              <a:rPr lang="ko-KR" altLang="ko-KR" dirty="0"/>
              <a:t> 16) </a:t>
            </a:r>
            <a:r>
              <a:rPr lang="ko-KR" altLang="ko-KR" dirty="0" err="1"/>
              <a:t>Claude</a:t>
            </a:r>
            <a:r>
              <a:rPr lang="ko-KR" altLang="ko-KR" dirty="0"/>
              <a:t> 3-agent 중 1개라도 MALICIOUS </a:t>
            </a:r>
            <a:r>
              <a:rPr lang="ko-KR" altLang="en-US" dirty="0"/>
              <a:t>답변</a:t>
            </a:r>
            <a:endParaRPr lang="en-US" altLang="ko-KR" dirty="0"/>
          </a:p>
          <a:p>
            <a:r>
              <a:rPr lang="ko-KR" altLang="ko-KR" dirty="0"/>
              <a:t>③ </a:t>
            </a:r>
            <a:r>
              <a:rPr lang="ko-KR" altLang="ko-KR" dirty="0" err="1"/>
              <a:t>max</a:t>
            </a:r>
            <a:r>
              <a:rPr lang="ko-KR" altLang="ko-KR" dirty="0"/>
              <a:t> </a:t>
            </a:r>
            <a:r>
              <a:rPr lang="ko-KR" altLang="ko-KR" dirty="0" err="1"/>
              <a:t>conf</a:t>
            </a:r>
            <a:r>
              <a:rPr lang="ko-KR" altLang="ko-KR" dirty="0"/>
              <a:t> ≥ 0.85 위 LLM MALICIOUS </a:t>
            </a:r>
            <a:r>
              <a:rPr lang="ko-KR" altLang="ko-KR" dirty="0" err="1"/>
              <a:t>evidence</a:t>
            </a:r>
            <a:r>
              <a:rPr lang="ko-KR" altLang="ko-KR" dirty="0"/>
              <a:t> 중 가장 신뢰도 높은 것의 </a:t>
            </a:r>
            <a:r>
              <a:rPr lang="ko-KR" altLang="ko-KR" dirty="0" err="1"/>
              <a:t>self-reported</a:t>
            </a:r>
            <a:r>
              <a:rPr lang="ko-KR" altLang="ko-KR" dirty="0"/>
              <a:t> </a:t>
            </a:r>
            <a:r>
              <a:rPr lang="ko-KR" altLang="ko-KR" dirty="0" err="1"/>
              <a:t>confidence</a:t>
            </a:r>
            <a:endParaRPr lang="en-US" altLang="ko-KR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B1F9F44-FEE5-F33D-FCB2-7A4CFD7C7786}"/>
              </a:ext>
            </a:extLst>
          </p:cNvPr>
          <p:cNvSpPr/>
          <p:nvPr/>
        </p:nvSpPr>
        <p:spPr>
          <a:xfrm>
            <a:off x="1843290" y="1837508"/>
            <a:ext cx="8505420" cy="13325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M</a:t>
            </a:r>
            <a:r>
              <a:rPr lang="ko-KR" altLang="ko-KR" dirty="0"/>
              <a:t>ALICIOUS = </a:t>
            </a:r>
            <a:r>
              <a:rPr lang="ko-KR" altLang="ko-KR" dirty="0" err="1"/>
              <a:t>high-severity</a:t>
            </a:r>
            <a:r>
              <a:rPr lang="ko-KR" altLang="ko-KR" dirty="0"/>
              <a:t> TTP </a:t>
            </a:r>
            <a:r>
              <a:rPr lang="ko-KR" altLang="ko-KR" dirty="0" err="1"/>
              <a:t>evidence</a:t>
            </a:r>
            <a:r>
              <a:rPr lang="ko-KR" altLang="ko-KR" dirty="0"/>
              <a:t> ≥ 1 AND</a:t>
            </a:r>
            <a:endParaRPr lang="en-US" altLang="ko-KR" dirty="0"/>
          </a:p>
          <a:p>
            <a:r>
              <a:rPr lang="ko-KR" altLang="ko-KR" dirty="0"/>
              <a:t>LLM </a:t>
            </a:r>
            <a:r>
              <a:rPr lang="ko-KR" altLang="ko-KR" dirty="0" err="1"/>
              <a:t>verdict</a:t>
            </a:r>
            <a:r>
              <a:rPr lang="ko-KR" altLang="ko-KR" dirty="0"/>
              <a:t> ∈ MALICIOUS AND </a:t>
            </a:r>
            <a:r>
              <a:rPr lang="ko-KR" altLang="ko-KR" dirty="0" err="1"/>
              <a:t>max</a:t>
            </a:r>
            <a:r>
              <a:rPr lang="ko-KR" altLang="ko-KR" dirty="0"/>
              <a:t>(MALICIOUS </a:t>
            </a:r>
            <a:r>
              <a:rPr lang="ko-KR" altLang="ko-KR" dirty="0" err="1"/>
              <a:t>evidence</a:t>
            </a:r>
            <a:r>
              <a:rPr lang="ko-KR" altLang="ko-KR" dirty="0"/>
              <a:t> </a:t>
            </a:r>
            <a:r>
              <a:rPr lang="ko-KR" altLang="ko-KR" dirty="0" err="1"/>
              <a:t>confidence</a:t>
            </a:r>
            <a:r>
              <a:rPr lang="ko-KR" altLang="ko-KR" dirty="0"/>
              <a:t>) ≥ 0.85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3612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D61A-61C9-7F72-C8E0-6B5AFEC0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25907E-F8D6-BC4D-FE73-E87B99D9F39F}"/>
              </a:ext>
            </a:extLst>
          </p:cNvPr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0A8A9F-EDF4-C10A-B964-FA23982F23AE}"/>
              </a:ext>
            </a:extLst>
          </p:cNvPr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엔진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59302A-66AC-1B9C-66F0-9FA52DA3B8B9}"/>
              </a:ext>
            </a:extLst>
          </p:cNvPr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</a:rPr>
              <a:t>위험도 판별</a:t>
            </a:r>
            <a:endParaRPr lang="en-US" sz="30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0E8A64E-27E4-4676-ADCA-52AD01C55A20}"/>
              </a:ext>
            </a:extLst>
          </p:cNvPr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0FB3354-F48D-6C72-F9B3-FC6EADD3DE97}"/>
              </a:ext>
            </a:extLst>
          </p:cNvPr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F3AA9130-60C6-42AD-54CB-9BC996DF1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44" y="1645920"/>
            <a:ext cx="980457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04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Capability Manifest — 선언형 권한 표준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532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4048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vs 탐지 대조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2331720" cy="914400"/>
          </a:xfrm>
          <a:prstGeom prst="rect">
            <a:avLst/>
          </a:prstGeom>
          <a:solidFill>
            <a:srgbClr val="EEF3FB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선언(declared)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 [tool.agentic]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"agentic"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017520"/>
            <a:ext cx="2331720" cy="914400"/>
          </a:xfrm>
          <a:prstGeom prst="rect">
            <a:avLst/>
          </a:prstGeom>
          <a:solidFill>
            <a:srgbClr val="E9F8F3"/>
          </a:solidFill>
          <a:ln w="12700">
            <a:solidFill>
              <a:srgbClr val="BCE8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6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탐지(detected)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C6B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L2~L4 행위 분석이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C6B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 권한 추출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⟶  불일치 = 미선언 권한 = 경고 신호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 원칙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canonical 15 + self-vocab 27 + MITRE Tactic 28 = 70여 매핑을 하나의 표준 어휘로 정규화. 기존 표현을 대체하지 않고 범위만 넓힌다.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2148840"/>
            <a:ext cx="5486400" cy="3657600"/>
          </a:xfrm>
          <a:prstGeom prst="rect">
            <a:avLst/>
          </a:prstGeom>
          <a:solidFill>
            <a:srgbClr val="1B2A4A"/>
          </a:solidFill>
          <a:ln/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99632" y="2148840"/>
            <a:ext cx="128016" cy="365760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65392" y="24048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구현·확장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65392" y="2880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C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선언형 권한이라는 발상에는 선례가 있다. 우리는 이를 공급망 패키지에 맞게 구현하고 EXTEND한다.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11112" y="3902611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권한 선언 · mcp-sec-audit (2026)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Gilbertson, npm 권한 제안 (2018)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capability 선언 모델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325E-863B-E0E5-9E30-68EBB0A42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DAA0D4-2D4F-BE96-0F3F-AFF7F9963772}"/>
              </a:ext>
            </a:extLst>
          </p:cNvPr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BE0D70-0C33-8D67-911C-1BA49D24307D}"/>
              </a:ext>
            </a:extLst>
          </p:cNvPr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/>
              <a:t>시연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04B930-06E1-0462-CC90-868DCC088524}"/>
              </a:ext>
            </a:extLst>
          </p:cNvPr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3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DF20C76-BCEB-E9D1-6E70-6C648EEEFE9E}"/>
              </a:ext>
            </a:extLst>
          </p:cNvPr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418DA87-60A4-21C0-219A-A1FD4E6C30A2}"/>
              </a:ext>
            </a:extLst>
          </p:cNvPr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  <p:pic>
        <p:nvPicPr>
          <p:cNvPr id="5" name="test">
            <a:hlinkClick r:id="" action="ppaction://media"/>
            <a:extLst>
              <a:ext uri="{FF2B5EF4-FFF2-40B4-BE49-F238E27FC236}">
                <a16:creationId xmlns:a16="http://schemas.microsoft.com/office/drawing/2014/main" id="{51909DAE-8271-5975-2045-70EB449944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3322" y="313071"/>
            <a:ext cx="9065355" cy="6124305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2B4CD2-4F9F-7420-AC69-A98152D2AF22}"/>
              </a:ext>
            </a:extLst>
          </p:cNvPr>
          <p:cNvGrpSpPr/>
          <p:nvPr/>
        </p:nvGrpSpPr>
        <p:grpSpPr>
          <a:xfrm>
            <a:off x="259277" y="243623"/>
            <a:ext cx="11763735" cy="6370753"/>
            <a:chOff x="259277" y="313071"/>
            <a:chExt cx="11763735" cy="6370753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083806A-E309-2A62-026E-99926FBFC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80033" y="1517386"/>
              <a:ext cx="7842979" cy="3823227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014288C1-F5DA-2E7F-0A91-48548D997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9277" y="313071"/>
              <a:ext cx="4041525" cy="6370753"/>
            </a:xfrm>
            <a:prstGeom prst="rect">
              <a:avLst/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3F792B19-1BFD-FDDF-F702-3F4E9F4445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675" y="0"/>
            <a:ext cx="10512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8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09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조건 비교 · PyPI 출하 엔진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출하 엔진(인기도 보정 OFF)으로 재측정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80(DataDog) + 정상 59(PyPI 인기) = n=139 동일 분모. pkgsentinel은 production 경로(run_pipeline + verdict_rules, 인기도 보정 없음)로 측정.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446410"/>
              </p:ext>
            </p:extLst>
          </p:nvPr>
        </p:nvGraphicFramePr>
        <p:xfrm>
          <a:off x="502920" y="2148840"/>
          <a:ext cx="11183112" cy="259689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(동일 n=139)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FP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pkgsentinel (출하엔진·claude)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59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OSV-Scanner (DB 조회)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59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Bandit (Python SAST)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0.475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 / 56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Semgrep (docker · ERR+WARN)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0.298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0.247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/ 59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02920" y="5212080"/>
            <a:ext cx="1118311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5349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출하 엔진 기준 F1 0.918 = 1위, 정밀도 1.000 · 정상 FP 0/59. 범용 SAST(Bandit/Semgrep)는 정상 패키지를 대량 오탐(Bandit 79%) — '악성 분류기'가 아니라 코드이슈 탐지기이기 때문.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336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200000"/>
              </a:lnSpc>
            </a:pPr>
            <a:r>
              <a:rPr sz="1300" b="1" dirty="0" err="1">
                <a:solidFill>
                  <a:srgbClr val="6B7A99"/>
                </a:solidFill>
                <a:latin typeface="Malgun Gothic"/>
              </a:rPr>
              <a:t>정상 오탐 0 — 인기도 보정 없이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 err="1">
                <a:solidFill>
                  <a:srgbClr val="1B2A4A"/>
                </a:solidFill>
                <a:latin typeface="Malgun Gothic"/>
              </a:rPr>
              <a:t>정상 59개 전부 CLEAN — 인기도 보정 없이 FP 0</a:t>
            </a:r>
            <a:endParaRPr sz="2800" b="1" dirty="0">
              <a:solidFill>
                <a:srgbClr val="1B2A4A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dirty="0" err="1">
                <a:solidFill>
                  <a:srgbClr val="6B7A99"/>
                </a:solidFill>
                <a:latin typeface="Malgun Gothic"/>
              </a:rPr>
              <a:t>정상 59개(numpy·pandas·scipy·django·openai 등) 전부 CLEAN. 이전 측정은 eval 전용 '인기도 화이트리스트'로 FP를 낮췄으나(출하 엔진엔 없는 보정), 이번엔 출하 엔진으로 재측정 — 보정 없이 FP 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48840"/>
          <a:ext cx="1118311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도구 (정상 n=59)</a:t>
                      </a:r>
                    </a:p>
                  </a:txBody>
                  <a:tcPr marL="73152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정상 FP</a:t>
                      </a:r>
                    </a:p>
                  </a:txBody>
                  <a:tcPr marL="73152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FFFFFF"/>
                          </a:solidFill>
                          <a:latin typeface="Malgun Gothic"/>
                        </a:rPr>
                        <a:t>오탐율</a:t>
                      </a:r>
                    </a:p>
                  </a:txBody>
                  <a:tcPr marL="73152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악성 Recall</a:t>
                      </a:r>
                    </a:p>
                  </a:txBody>
                  <a:tcPr marL="73152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핵심</a:t>
                      </a:r>
                    </a:p>
                  </a:txBody>
                  <a:tcPr marL="73152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15803D"/>
                          </a:solidFill>
                          <a:latin typeface="Malgun Gothic"/>
                        </a:rPr>
                        <a:t>pkgsentinel (출하엔진)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dirty="0">
                          <a:solidFill>
                            <a:srgbClr val="15803D"/>
                          </a:solidFill>
                          <a:latin typeface="Malgun Gothic"/>
                        </a:rPr>
                        <a:t>0 %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Malgun Gothic"/>
                        </a:rPr>
                        <a:t>0.848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5803D"/>
                          </a:solidFill>
                          <a:latin typeface="Malgun Gothic"/>
                        </a:rPr>
                        <a:t>인기도 보정 없이 FP 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1E293B"/>
                          </a:solidFill>
                          <a:latin typeface="Malgun Gothic"/>
                        </a:rPr>
                        <a:t>OSV-Scanner (DB)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1.7 %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0.763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DB 조회 (사후 등재)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1E293B"/>
                          </a:solidFill>
                          <a:latin typeface="Malgun Gothic"/>
                        </a:rPr>
                        <a:t>Semgrep (docker)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68 %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0.212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코드이슈 탐지기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1E293B"/>
                          </a:solidFill>
                          <a:latin typeface="Malgun Gothic"/>
                        </a:rPr>
                        <a:t>Bandit (Python SAST)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44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79 %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0.475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eval/subprocess 무조건 flag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numpy 사례 (슬라이드 6~12)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E293B"/>
                          </a:solidFill>
                          <a:latin typeface="Malgun Gothic"/>
                        </a:rPr>
                        <a:t>1,461 신호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138 비-benign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1E293B"/>
                          </a:solidFill>
                          <a:latin typeface="Malgun Gothic"/>
                        </a:rPr>
                        <a:t>LLM benign → CLEAN</a:t>
                      </a:r>
                      <a:endParaRPr sz="1250" b="0" dirty="0">
                        <a:solidFill>
                          <a:srgbClr val="53627D"/>
                        </a:solidFill>
                        <a:latin typeface="Malgun Gothic"/>
                      </a:endParaRP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212080"/>
            <a:ext cx="1118311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340096"/>
            <a:ext cx="10698480" cy="74980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250" b="1" dirty="0">
                <a:solidFill>
                  <a:srgbClr val="1B2A4A"/>
                </a:solidFill>
                <a:latin typeface="Malgun Gothic"/>
              </a:rPr>
              <a:t>numpy는 indicator 179 · TTP 140 · 휴리스틱 138 비-benign 신호를 띄우지만, LLM(claude)이 정상 사용으로 확인 + 휴리스틱 단독 미승격 → CLEAN. 범용 SAST가 못 하는 '정상의 위험한 API 사용' 구분이 핵심.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Malgun Gothic"/>
              </a:rPr>
              <a:t>pkgsentinel  ·  AI 공급망 악성 패키지 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Malgun Gothic"/>
              </a:rPr>
              <a:t>8 /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결과 · 다중 사건 ZERO-DAY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독립 사건 모두 탐지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6276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3개 명명 캠페인(2025-09~2026-05, 다른 행위자·벡터) zero-day 검증 — DB·패턴 SAST는 전부 0%, pkgsentinel만 행위 분석(L0 OFF)으로 탐지.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2615184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7395A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" y="358444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Shai-Hulud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295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2025-09 · npm worm · n=162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2286000"/>
            <a:ext cx="2615184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7395A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10128" y="251460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310128" y="358444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 Shai-Hulud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7288" y="39319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295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 · TeamPCP · n=40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2286000"/>
            <a:ext cx="2615184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7395A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17336" y="251460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</a:rPr>
              <a:t>78%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117336" y="358444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TrapDoor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54496" y="39319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295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 · 지갑탈취 · n=46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24544" y="2286000"/>
            <a:ext cx="2615184" cy="2148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7395A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24544" y="2514600"/>
            <a:ext cx="2615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924544" y="358444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OSV · njsscan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61704" y="393192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295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사건 전부 미탐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09160"/>
            <a:ext cx="11183112" cy="1417320"/>
          </a:xfrm>
          <a:prstGeom prst="rect">
            <a:avLst/>
          </a:prstGeom>
          <a:solidFill>
            <a:srgbClr val="13233B"/>
          </a:solidFill>
          <a:ln w="12700">
            <a:solidFill>
              <a:srgbClr val="27395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777240" y="512251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0" dirty="0" err="1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자가복제</a:t>
            </a:r>
            <a:r>
              <a:rPr lang="en-US" sz="1350" b="0" dirty="0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worm(Shai-Hulud)·다른 행위자 변종(Mini)·암호화폐 탈취(TrapDoor) — 세 독립 캠페인 모두 행위 분석으로 탐지. zero-day라 OSV(DB)·njsscan(SAST)은 정의상 0%. </a:t>
            </a:r>
            <a:r>
              <a:rPr lang="en-US" sz="1350" b="0" dirty="0" err="1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</a:t>
            </a:r>
            <a:r>
              <a:rPr lang="en-US" sz="1350" b="0" dirty="0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미탐은 페이로드 없는 decoy. </a:t>
            </a:r>
            <a:r>
              <a:rPr lang="ko-KR" altLang="en-US" sz="1350" b="0" dirty="0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제외하면 </a:t>
            </a:r>
            <a:r>
              <a:rPr lang="en-US" altLang="ko-KR" sz="1350" b="0" dirty="0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</a:t>
            </a:r>
            <a:r>
              <a:rPr lang="ko-KR" altLang="en-US" sz="1350" b="0" dirty="0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r>
              <a:rPr lang="en-US" altLang="ko-KR" sz="1350" b="0" dirty="0">
                <a:solidFill>
                  <a:srgbClr val="CDD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ai-skills: 결이 다른 zero-day — 모두에게 어렵다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OSV 0/204인 신규 벡터(2026-05, DataDog). 동일 분모 n=204(분석 불가=미탐)로 통일 — 전 도구의 recall이 낮은 미해결 영역.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19456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812280" y="2194560"/>
            <a:ext cx="487375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812280" y="2194560"/>
            <a:ext cx="118872" cy="1691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132320" y="2377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도구가 실패한 신규 표면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132320" y="28346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n=204: pkgsentinel 0.152 ≈ Bandit 0.142 &gt; Semgrep 0.098 &gt; OSV 0. 우열보다 "모두 못 잡는 미해결 영역"이 핵심.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12280" y="4069080"/>
            <a:ext cx="487375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8100000" algn="bl" rotWithShape="0">
              <a:srgbClr val="0E1A2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812280" y="4069080"/>
            <a:ext cx="118872" cy="169164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13232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어려운가 · 다음 단계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223760" y="47091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공격이 코드가 아닌 SKILL.md(마크다운 지시문·프롬프트·코드펜스)에 존재 → 코드 스캐너 구조적 무력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대응: 스킬 지시문 분석(markdown-pinpoint) 프로토타입 → 0.152→0.284, benign FP 0 (파이프라인 미통합)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  <p:sp>
        <p:nvSpPr>
          <p:cNvPr id="17" name="TextBox 16"/>
          <p:cNvSpPr txBox="1"/>
          <p:nvPr/>
        </p:nvSpPr>
        <p:spPr>
          <a:xfrm>
            <a:off x="502920" y="6355080"/>
            <a:ext cx="5943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i="1">
                <a:solidFill>
                  <a:srgbClr val="6B7A99"/>
                </a:solidFill>
                <a:latin typeface="Malgun Gothic"/>
              </a:rPr>
              <a:t>* markdown-pinpoint = 프로토타입(미통합) · 같은 셋 측정 · 정상 FP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RELATED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 — 본 연구의 위치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445937"/>
              </p:ext>
            </p:extLst>
          </p:nvPr>
        </p:nvGraphicFramePr>
        <p:xfrm>
          <a:off x="502920" y="2022032"/>
          <a:ext cx="11183112" cy="31546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구성요소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선행연구 / 선례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우리의 기여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7계층 구조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2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개별 기법(SCA·SAST·MITRE 매핑)은 기존 존재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2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공급망 탐지용 단일 파이프라인으로 통합·측정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L3 : 행위·TTP 매핑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2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Malware2ATT&amp;CK (2024, 바이너리 대상)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2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 소스 대상으로 확장, 568 TTP 임베딩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Capability Manifest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2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권한선언·mcp-sec-audit·Gilbertson(2018)·OpenClaw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32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 매니페스트화 + 선언·탐지 자동 대조 + EXTEND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pkgsentinel  ·  AI 공급망 악성 패키지 탐지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457200"/>
          </a:xfrm>
          <a:prstGeom prst="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6B7A99"/>
                </a:solidFill>
                <a:latin typeface="Malgun Gothic"/>
              </a:rPr>
              <a:t>부록 · 아키텍처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B2A4A"/>
                </a:solidFill>
                <a:latin typeface="Malgun Gothic"/>
              </a:rPr>
              <a:t>7계층 / 21단계 상세 파이프라인 (L0~L6, stage 00~20)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40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위협 필터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7818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4324B"/>
                </a:solidFill>
                <a:latin typeface="Malgun Gothic"/>
              </a:rPr>
              <a:t>00 레지스트리 확인 · 01 Threat Filter(게이트) · 02 공격이력 조회(OSV DB)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543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45436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45436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존재·메타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45436"/>
            <a:ext cx="7818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4324B"/>
                </a:solidFill>
                <a:latin typeface="Malgun Gothic"/>
              </a:rPr>
              <a:t>03 OpenSSF Scorecard · 04 SLSA 프로비넌스 추정 · 05 분석 캐시(6-트리거 무효화)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99232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99232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정적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99232"/>
            <a:ext cx="7818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4324B"/>
                </a:solidFill>
                <a:latin typeface="Malgun Gothic"/>
              </a:rPr>
              <a:t>06 전파일 소스추출 · 07 Agentic 분류 · 08 Behavior Sequence* · 09 문자열 상수(엔트로피) · 10 버전 diff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53028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653028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653028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행위·TTP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53028"/>
            <a:ext cx="7818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4324B"/>
                </a:solidFill>
                <a:latin typeface="Malgun Gothic"/>
              </a:rPr>
              <a:t>11 TTP 매칭(MITRE 임베딩+행위규칙)* · 12 카테고리 이상 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06824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306824"/>
            <a:ext cx="914400" cy="60350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306824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306824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지표 종합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06824"/>
            <a:ext cx="7818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4324B"/>
                </a:solidFill>
                <a:latin typeface="Malgun Gothic"/>
              </a:rPr>
              <a:t>13 47-indicator 매처 · 14 Sequential pattern mining · 15 Taint slicing(source→sink)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60620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4960620"/>
            <a:ext cx="914400" cy="603504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960620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960620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LLM 판정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960620"/>
            <a:ext cx="7818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4324B"/>
                </a:solidFill>
                <a:latin typeface="Malgun Gothic"/>
              </a:rPr>
              <a:t>16 LLM 이중 검증(단일/다중 에이전트)*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14416"/>
            <a:ext cx="111831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5614416"/>
            <a:ext cx="914400" cy="603504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614416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L6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614416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판정·리포트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5614416"/>
            <a:ext cx="7818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4324B"/>
                </a:solidFill>
                <a:latin typeface="Malgun Gothic"/>
              </a:rPr>
              <a:t>17 의존성 재귀 · 18 바이너리 분석 · 19 샌드박스 동적 · 20 NIST SSDF · 최종 verdict + 리포트(+manifest 대조)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Malgun Gothic"/>
              </a:rPr>
              <a:t>* 필수 스테이지(08 Behavior / 11 TTP / 16 LLM). 17~20·19는 플래그(--deps/--sandbox) 또는 조건부 실행.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37376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Malgun Gothic"/>
              </a:rPr>
              <a:t>pkgsentinel  ·  AI 공급망 악성 패키지 탐지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373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Malgun Gothic"/>
              </a:rPr>
              <a:t>부록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2502</Words>
  <Application>Microsoft Office PowerPoint</Application>
  <PresentationFormat>와이드스크린</PresentationFormat>
  <Paragraphs>354</Paragraphs>
  <Slides>22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pkgsentinel — AI 공급망 악성 패키지 탐지</dc:title>
  <dc:subject>PptxGenJS Presentation</dc:subject>
  <dc:creator>Uisha-J</dc:creator>
  <cp:lastModifiedBy>김의재</cp:lastModifiedBy>
  <cp:revision>13</cp:revision>
  <dcterms:created xsi:type="dcterms:W3CDTF">2026-05-30T08:46:07Z</dcterms:created>
  <dcterms:modified xsi:type="dcterms:W3CDTF">2026-06-04T22:38:43Z</dcterms:modified>
</cp:coreProperties>
</file>